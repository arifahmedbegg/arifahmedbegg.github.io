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0" r:id="rId3"/>
    <p:sldId id="261" r:id="rId4"/>
    <p:sldId id="262" r:id="rId5"/>
    <p:sldId id="263" r:id="rId6"/>
    <p:sldId id="271" r:id="rId7"/>
    <p:sldId id="264" r:id="rId8"/>
    <p:sldId id="265" r:id="rId9"/>
    <p:sldId id="266" r:id="rId10"/>
    <p:sldId id="267" r:id="rId11"/>
    <p:sldId id="27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C49D77-577C-4B06-8481-B8B0367AB0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9F79A9B-2E71-42C8-B21C-1E1C7C08730C}">
      <dgm:prSet phldrT="[Text]" phldr="0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algn="ctr">
            <a:buNone/>
          </a:pP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CT: NH₂ </a:t>
          </a:r>
          <a:r>
            <a:rPr lang="el-GR" sz="1600" b="1" i="1" dirty="0">
              <a:latin typeface="Arial" panose="020B0604020202020204" pitchFamily="34" charset="0"/>
              <a:cs typeface="Arial" panose="020B0604020202020204" pitchFamily="34" charset="0"/>
            </a:rPr>
            <a:t> → </a:t>
          </a: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NO₂*</a:t>
          </a:r>
        </a:p>
      </dgm:t>
    </dgm:pt>
    <dgm:pt modelId="{21C06BA1-00D3-45BF-B829-391904D06567}" type="parTrans" cxnId="{B7D9E66A-C04E-480F-81E2-E8E51D272CE1}">
      <dgm:prSet/>
      <dgm:spPr/>
      <dgm:t>
        <a:bodyPr/>
        <a:lstStyle/>
        <a:p>
          <a:endParaRPr lang="en-IN"/>
        </a:p>
      </dgm:t>
    </dgm:pt>
    <dgm:pt modelId="{65EF6DCF-D112-49C4-820A-F5263610754E}" type="sibTrans" cxnId="{B7D9E66A-C04E-480F-81E2-E8E51D272CE1}">
      <dgm:prSet/>
      <dgm:spPr/>
      <dgm:t>
        <a:bodyPr/>
        <a:lstStyle/>
        <a:p>
          <a:endParaRPr lang="en-IN"/>
        </a:p>
      </dgm:t>
    </dgm:pt>
    <dgm:pt modelId="{B07939D0-B810-4066-A957-3906BE5F2F6D}">
      <dgm:prSet phldrT="[Text]" phldr="0" custT="1"/>
      <dgm:spPr/>
      <dgm:t>
        <a:bodyPr/>
        <a:lstStyle/>
        <a:p>
          <a:pPr algn="ctr"/>
          <a:endParaRPr lang="en-IN" sz="1600" b="1" i="1" dirty="0"/>
        </a:p>
      </dgm:t>
    </dgm:pt>
    <dgm:pt modelId="{721746EA-A032-4444-A8B8-A49B385EECBB}" type="parTrans" cxnId="{74DE7003-A475-4EA3-B571-C3C4B1A10FE3}">
      <dgm:prSet/>
      <dgm:spPr/>
      <dgm:t>
        <a:bodyPr/>
        <a:lstStyle/>
        <a:p>
          <a:endParaRPr lang="en-IN"/>
        </a:p>
      </dgm:t>
    </dgm:pt>
    <dgm:pt modelId="{7B8F5C36-F3B3-4F15-8CC2-680148F35B73}" type="sibTrans" cxnId="{74DE7003-A475-4EA3-B571-C3C4B1A10FE3}">
      <dgm:prSet/>
      <dgm:spPr/>
      <dgm:t>
        <a:bodyPr/>
        <a:lstStyle/>
        <a:p>
          <a:endParaRPr lang="en-IN"/>
        </a:p>
      </dgm:t>
    </dgm:pt>
    <dgm:pt modelId="{6DBC9C3C-48A8-48B6-A5CE-A1A6ADE928DA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ctr">
            <a:buNone/>
          </a:pP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Protonation suppresses donor</a:t>
          </a:r>
        </a:p>
        <a:p>
          <a:pPr algn="ctr">
            <a:buNone/>
          </a:pP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(NH₂ → NH₃⁺)</a:t>
          </a:r>
        </a:p>
      </dgm:t>
    </dgm:pt>
    <dgm:pt modelId="{3E691D90-C4A4-4511-8AF2-75274DE9AA1A}" type="parTrans" cxnId="{28F0AB89-74A2-4A07-8CF1-6223696E8E5D}">
      <dgm:prSet/>
      <dgm:spPr/>
      <dgm:t>
        <a:bodyPr/>
        <a:lstStyle/>
        <a:p>
          <a:endParaRPr lang="en-IN"/>
        </a:p>
      </dgm:t>
    </dgm:pt>
    <dgm:pt modelId="{157228C7-CCD7-4915-A039-9DD9BB2A49FF}" type="sibTrans" cxnId="{28F0AB89-74A2-4A07-8CF1-6223696E8E5D}">
      <dgm:prSet/>
      <dgm:spPr/>
      <dgm:t>
        <a:bodyPr/>
        <a:lstStyle/>
        <a:p>
          <a:endParaRPr lang="en-IN"/>
        </a:p>
      </dgm:t>
    </dgm:pt>
    <dgm:pt modelId="{E9E409CA-472A-4DAE-B069-A0356C0C3DFB}">
      <dgm:prSet phldrT="[Text]" custT="1"/>
      <dgm:spPr>
        <a:solidFill>
          <a:srgbClr val="002060"/>
        </a:solidFill>
      </dgm:spPr>
      <dgm:t>
        <a:bodyPr/>
        <a:lstStyle/>
        <a:p>
          <a:pPr algn="ctr">
            <a:buNone/>
          </a:pP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Excited state destabilised</a:t>
          </a:r>
        </a:p>
        <a:p>
          <a:pPr algn="ctr">
            <a:buNone/>
          </a:pP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l-GR" sz="1600" b="1" i="1" dirty="0">
              <a:latin typeface="Arial" panose="020B0604020202020204" pitchFamily="34" charset="0"/>
              <a:cs typeface="Arial" panose="020B0604020202020204" pitchFamily="34" charset="0"/>
            </a:rPr>
            <a:t>Δ</a:t>
          </a: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E ↑ → </a:t>
          </a:r>
          <a:r>
            <a:rPr lang="en-IN" sz="1600" b="1" i="1" dirty="0" err="1">
              <a:latin typeface="Arial" panose="020B0604020202020204" pitchFamily="34" charset="0"/>
              <a:cs typeface="Arial" panose="020B0604020202020204" pitchFamily="34" charset="0"/>
            </a:rPr>
            <a:t>pKa</a:t>
          </a:r>
          <a:r>
            <a:rPr lang="en-IN" sz="1600" b="1" i="1" dirty="0">
              <a:latin typeface="Arial" panose="020B0604020202020204" pitchFamily="34" charset="0"/>
              <a:cs typeface="Arial" panose="020B0604020202020204" pitchFamily="34" charset="0"/>
            </a:rPr>
            <a:t>* ↓</a:t>
          </a:r>
        </a:p>
      </dgm:t>
    </dgm:pt>
    <dgm:pt modelId="{AD42323A-CCA0-4ECB-BC32-8C7EA28AB844}" type="parTrans" cxnId="{A824095D-CA4E-4C15-B990-1C3BFC7CE7A1}">
      <dgm:prSet/>
      <dgm:spPr/>
      <dgm:t>
        <a:bodyPr/>
        <a:lstStyle/>
        <a:p>
          <a:endParaRPr lang="en-IN"/>
        </a:p>
      </dgm:t>
    </dgm:pt>
    <dgm:pt modelId="{9C028701-4AB7-43DF-9D4E-A7E325C0CF7A}" type="sibTrans" cxnId="{A824095D-CA4E-4C15-B990-1C3BFC7CE7A1}">
      <dgm:prSet/>
      <dgm:spPr/>
      <dgm:t>
        <a:bodyPr/>
        <a:lstStyle/>
        <a:p>
          <a:endParaRPr lang="en-IN"/>
        </a:p>
      </dgm:t>
    </dgm:pt>
    <dgm:pt modelId="{CC351149-DBC8-4E2F-A8D2-AD16F0A0E5EE}" type="pres">
      <dgm:prSet presAssocID="{BAC49D77-577C-4B06-8481-B8B0367AB0AC}" presName="linear" presStyleCnt="0">
        <dgm:presLayoutVars>
          <dgm:animLvl val="lvl"/>
          <dgm:resizeHandles val="exact"/>
        </dgm:presLayoutVars>
      </dgm:prSet>
      <dgm:spPr/>
    </dgm:pt>
    <dgm:pt modelId="{10A09925-6328-48AB-B356-60CAEEB3F181}" type="pres">
      <dgm:prSet presAssocID="{19F79A9B-2E71-42C8-B21C-1E1C7C08730C}" presName="parentText" presStyleLbl="node1" presStyleIdx="0" presStyleCnt="3" custLinFactNeighborX="-21498" custLinFactNeighborY="6669">
        <dgm:presLayoutVars>
          <dgm:chMax val="0"/>
          <dgm:bulletEnabled val="1"/>
        </dgm:presLayoutVars>
      </dgm:prSet>
      <dgm:spPr/>
    </dgm:pt>
    <dgm:pt modelId="{4E3C71FA-4B8C-4CD3-BDED-530B0C04DC0A}" type="pres">
      <dgm:prSet presAssocID="{19F79A9B-2E71-42C8-B21C-1E1C7C08730C}" presName="childText" presStyleLbl="revTx" presStyleIdx="0" presStyleCnt="1">
        <dgm:presLayoutVars>
          <dgm:bulletEnabled val="1"/>
        </dgm:presLayoutVars>
      </dgm:prSet>
      <dgm:spPr/>
    </dgm:pt>
    <dgm:pt modelId="{DC366CCE-F516-4EF2-ADF5-3F4BD3E18DE0}" type="pres">
      <dgm:prSet presAssocID="{6DBC9C3C-48A8-48B6-A5CE-A1A6ADE928DA}" presName="parentText" presStyleLbl="node1" presStyleIdx="1" presStyleCnt="3" custLinFactY="-15598" custLinFactNeighborY="-100000">
        <dgm:presLayoutVars>
          <dgm:chMax val="0"/>
          <dgm:bulletEnabled val="1"/>
        </dgm:presLayoutVars>
      </dgm:prSet>
      <dgm:spPr/>
    </dgm:pt>
    <dgm:pt modelId="{360A30A6-5257-4AF7-8DF6-E8DE8AC500D7}" type="pres">
      <dgm:prSet presAssocID="{157228C7-CCD7-4915-A039-9DD9BB2A49FF}" presName="spacer" presStyleCnt="0"/>
      <dgm:spPr/>
    </dgm:pt>
    <dgm:pt modelId="{6EC11946-4E5F-41B5-8A87-245B0E58E675}" type="pres">
      <dgm:prSet presAssocID="{E9E409CA-472A-4DAE-B069-A0356C0C3D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DE7003-A475-4EA3-B571-C3C4B1A10FE3}" srcId="{19F79A9B-2E71-42C8-B21C-1E1C7C08730C}" destId="{B07939D0-B810-4066-A957-3906BE5F2F6D}" srcOrd="0" destOrd="0" parTransId="{721746EA-A032-4444-A8B8-A49B385EECBB}" sibTransId="{7B8F5C36-F3B3-4F15-8CC2-680148F35B73}"/>
    <dgm:cxn modelId="{6F22E422-1EFA-4340-B692-5DDDC2C3ED75}" type="presOf" srcId="{B07939D0-B810-4066-A957-3906BE5F2F6D}" destId="{4E3C71FA-4B8C-4CD3-BDED-530B0C04DC0A}" srcOrd="0" destOrd="0" presId="urn:microsoft.com/office/officeart/2005/8/layout/vList2"/>
    <dgm:cxn modelId="{BF79342E-3B5B-4C91-B29F-F7DC9AB87967}" type="presOf" srcId="{E9E409CA-472A-4DAE-B069-A0356C0C3DFB}" destId="{6EC11946-4E5F-41B5-8A87-245B0E58E675}" srcOrd="0" destOrd="0" presId="urn:microsoft.com/office/officeart/2005/8/layout/vList2"/>
    <dgm:cxn modelId="{A824095D-CA4E-4C15-B990-1C3BFC7CE7A1}" srcId="{BAC49D77-577C-4B06-8481-B8B0367AB0AC}" destId="{E9E409CA-472A-4DAE-B069-A0356C0C3DFB}" srcOrd="2" destOrd="0" parTransId="{AD42323A-CCA0-4ECB-BC32-8C7EA28AB844}" sibTransId="{9C028701-4AB7-43DF-9D4E-A7E325C0CF7A}"/>
    <dgm:cxn modelId="{0CEC1D4A-07A0-45CC-8693-8FB6DC16B232}" type="presOf" srcId="{BAC49D77-577C-4B06-8481-B8B0367AB0AC}" destId="{CC351149-DBC8-4E2F-A8D2-AD16F0A0E5EE}" srcOrd="0" destOrd="0" presId="urn:microsoft.com/office/officeart/2005/8/layout/vList2"/>
    <dgm:cxn modelId="{B7D9E66A-C04E-480F-81E2-E8E51D272CE1}" srcId="{BAC49D77-577C-4B06-8481-B8B0367AB0AC}" destId="{19F79A9B-2E71-42C8-B21C-1E1C7C08730C}" srcOrd="0" destOrd="0" parTransId="{21C06BA1-00D3-45BF-B829-391904D06567}" sibTransId="{65EF6DCF-D112-49C4-820A-F5263610754E}"/>
    <dgm:cxn modelId="{B987EC81-49D2-40D1-AA53-828DF292E5FF}" type="presOf" srcId="{19F79A9B-2E71-42C8-B21C-1E1C7C08730C}" destId="{10A09925-6328-48AB-B356-60CAEEB3F181}" srcOrd="0" destOrd="0" presId="urn:microsoft.com/office/officeart/2005/8/layout/vList2"/>
    <dgm:cxn modelId="{28F0AB89-74A2-4A07-8CF1-6223696E8E5D}" srcId="{BAC49D77-577C-4B06-8481-B8B0367AB0AC}" destId="{6DBC9C3C-48A8-48B6-A5CE-A1A6ADE928DA}" srcOrd="1" destOrd="0" parTransId="{3E691D90-C4A4-4511-8AF2-75274DE9AA1A}" sibTransId="{157228C7-CCD7-4915-A039-9DD9BB2A49FF}"/>
    <dgm:cxn modelId="{68512EE3-4FAA-4D9B-9D54-87DDA8AF6419}" type="presOf" srcId="{6DBC9C3C-48A8-48B6-A5CE-A1A6ADE928DA}" destId="{DC366CCE-F516-4EF2-ADF5-3F4BD3E18DE0}" srcOrd="0" destOrd="0" presId="urn:microsoft.com/office/officeart/2005/8/layout/vList2"/>
    <dgm:cxn modelId="{109CF006-80D6-48C6-9307-DE607BE28C2A}" type="presParOf" srcId="{CC351149-DBC8-4E2F-A8D2-AD16F0A0E5EE}" destId="{10A09925-6328-48AB-B356-60CAEEB3F181}" srcOrd="0" destOrd="0" presId="urn:microsoft.com/office/officeart/2005/8/layout/vList2"/>
    <dgm:cxn modelId="{F5897C6C-42A4-4683-A6DF-25E579717FDD}" type="presParOf" srcId="{CC351149-DBC8-4E2F-A8D2-AD16F0A0E5EE}" destId="{4E3C71FA-4B8C-4CD3-BDED-530B0C04DC0A}" srcOrd="1" destOrd="0" presId="urn:microsoft.com/office/officeart/2005/8/layout/vList2"/>
    <dgm:cxn modelId="{6BB111C3-3BF6-4E62-BD20-BB664EB30B98}" type="presParOf" srcId="{CC351149-DBC8-4E2F-A8D2-AD16F0A0E5EE}" destId="{DC366CCE-F516-4EF2-ADF5-3F4BD3E18DE0}" srcOrd="2" destOrd="0" presId="urn:microsoft.com/office/officeart/2005/8/layout/vList2"/>
    <dgm:cxn modelId="{7DF3AA86-94E3-4FC9-AC80-98C1969DB9D9}" type="presParOf" srcId="{CC351149-DBC8-4E2F-A8D2-AD16F0A0E5EE}" destId="{360A30A6-5257-4AF7-8DF6-E8DE8AC500D7}" srcOrd="3" destOrd="0" presId="urn:microsoft.com/office/officeart/2005/8/layout/vList2"/>
    <dgm:cxn modelId="{81F29EF0-2086-4883-AADB-1EB064D527EC}" type="presParOf" srcId="{CC351149-DBC8-4E2F-A8D2-AD16F0A0E5EE}" destId="{6EC11946-4E5F-41B5-8A87-245B0E58E6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09925-6328-48AB-B356-60CAEEB3F181}">
      <dsp:nvSpPr>
        <dsp:cNvPr id="0" name=""/>
        <dsp:cNvSpPr/>
      </dsp:nvSpPr>
      <dsp:spPr>
        <a:xfrm>
          <a:off x="0" y="62833"/>
          <a:ext cx="4280517" cy="992160"/>
        </a:xfrm>
        <a:prstGeom prst="roundRect">
          <a:avLst/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CT: NH₂ </a:t>
          </a:r>
          <a:r>
            <a:rPr lang="el-GR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 → </a:t>
          </a: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NO₂*</a:t>
          </a:r>
        </a:p>
      </dsp:txBody>
      <dsp:txXfrm>
        <a:off x="48433" y="111266"/>
        <a:ext cx="4183651" cy="895294"/>
      </dsp:txXfrm>
    </dsp:sp>
    <dsp:sp modelId="{4E3C71FA-4B8C-4CD3-BDED-530B0C04DC0A}">
      <dsp:nvSpPr>
        <dsp:cNvPr id="0" name=""/>
        <dsp:cNvSpPr/>
      </dsp:nvSpPr>
      <dsp:spPr>
        <a:xfrm>
          <a:off x="0" y="996461"/>
          <a:ext cx="4280517" cy="87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906" tIns="20320" rIns="113792" bIns="20320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1600" b="1" i="1" kern="1200" dirty="0"/>
        </a:p>
      </dsp:txBody>
      <dsp:txXfrm>
        <a:off x="0" y="996461"/>
        <a:ext cx="4280517" cy="877680"/>
      </dsp:txXfrm>
    </dsp:sp>
    <dsp:sp modelId="{DC366CCE-F516-4EF2-ADF5-3F4BD3E18DE0}">
      <dsp:nvSpPr>
        <dsp:cNvPr id="0" name=""/>
        <dsp:cNvSpPr/>
      </dsp:nvSpPr>
      <dsp:spPr>
        <a:xfrm>
          <a:off x="0" y="1566744"/>
          <a:ext cx="4280517" cy="992160"/>
        </a:xfrm>
        <a:prstGeom prst="roundRect">
          <a:avLst/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Protonation suppresses donor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(NH₂ → NH₃⁺)</a:t>
          </a:r>
        </a:p>
      </dsp:txBody>
      <dsp:txXfrm>
        <a:off x="48433" y="1615177"/>
        <a:ext cx="4183651" cy="895294"/>
      </dsp:txXfrm>
    </dsp:sp>
    <dsp:sp modelId="{6EC11946-4E5F-41B5-8A87-245B0E58E675}">
      <dsp:nvSpPr>
        <dsp:cNvPr id="0" name=""/>
        <dsp:cNvSpPr/>
      </dsp:nvSpPr>
      <dsp:spPr>
        <a:xfrm>
          <a:off x="0" y="3018941"/>
          <a:ext cx="4280517" cy="99216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Excited state destabilised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l-GR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Δ</a:t>
          </a: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E ↑ → </a:t>
          </a:r>
          <a:r>
            <a:rPr lang="en-IN" sz="1600" b="1" i="1" kern="1200" dirty="0" err="1">
              <a:latin typeface="Arial" panose="020B0604020202020204" pitchFamily="34" charset="0"/>
              <a:cs typeface="Arial" panose="020B0604020202020204" pitchFamily="34" charset="0"/>
            </a:rPr>
            <a:t>pKa</a:t>
          </a:r>
          <a:r>
            <a:rPr lang="en-IN" sz="1600" b="1" i="1" kern="1200" dirty="0">
              <a:latin typeface="Arial" panose="020B0604020202020204" pitchFamily="34" charset="0"/>
              <a:cs typeface="Arial" panose="020B0604020202020204" pitchFamily="34" charset="0"/>
            </a:rPr>
            <a:t>* ↓</a:t>
          </a:r>
        </a:p>
      </dsp:txBody>
      <dsp:txXfrm>
        <a:off x="48433" y="3067374"/>
        <a:ext cx="4183651" cy="895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BD4C9-29FC-4844-BD09-88987DDA2F1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EDC50-F379-4F8B-A061-59127A0FB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1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C67CA-292B-462D-AC95-985457B76C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505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EDC50-F379-4F8B-A061-59127A0FBD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03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AFC7-5ACF-2953-D4D5-1E9ED4040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5E26E-E76C-9913-3DD6-6044E3EC6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A8F4E-1166-EF1D-81FA-C812EE1E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01CF-BFCD-49C2-9896-8D4B3298ABD2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3820D-2604-C359-C817-DD8475B9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99EA3-5392-8A46-1B3C-9ABBCEDA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B445-12D6-6838-4224-D2FD3B4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A2AE0-744C-2583-D186-58CAAF67B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4527B-1514-C869-8B18-F94611D0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14329-3752-4564-839C-8472511C02C7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47DB9-21E5-A472-2B02-2D0E81B6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BB323-623D-B7B5-D957-0A0003D9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57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4E42-DBB2-C642-33EB-27FE7E87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62160-2564-8E2D-3296-11448040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9625-16B9-EBFB-318F-EBB13654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1981-A8E8-44A2-83C4-29FA113367E5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C00CE-C6E3-3495-6AED-0DCD0CFB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89184-5A94-3D91-EB6C-8880DAEA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0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5F75-0062-73C6-EC08-0187BC89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CCC0-AD0D-3944-9825-E1C963A6C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EC8C8-42F1-3FE5-6245-50C07A88E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45F4-EB66-E609-C679-F36965394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DE9D-8710-4DEC-BD17-B6D4C3AE44C7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537C-C3AC-57F1-7917-52A3BFE1B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85856-A57D-CA66-3EF8-04D5D679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360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56AC-94FF-60D2-0598-DC2CB537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A32AA-18DC-8805-0053-18F2F43DE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41E23-760B-9651-44D6-8B73790D6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740E6-7875-83E3-57D4-54AA1579B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34DF7-175D-61D2-936B-7434C65B7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11B580-2130-E224-2A46-FDBF3E35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1A57-B7B8-4152-BAE5-FF96120E1D7A}" type="datetime1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2F967-86BD-7BE7-EBBF-FC8563FE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1E3FF-D0D0-119D-3026-72FB3CCA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37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300C-46C1-9075-5409-3B70D737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4D561-44FA-F064-CA48-F0BB48D9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2696-7F92-4E12-9183-07187F051E99}" type="datetime1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92FF3-FA75-C622-FDED-F34BB756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A000-F051-3B59-48C4-9701EEB9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41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D783A-CAB7-8FCF-2EFD-4068BBDD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15485-4C49-4EDE-9D6D-45E2C123B2D7}" type="datetime1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705D0-5006-C559-28E7-27B610EE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02414-F4AF-A0B5-A0BD-14994586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31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A9F8-F97E-E443-FC60-7FEDBED0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854D-C07D-6362-F545-78EEC3B55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6A7AA-5D64-261F-CCDD-5B58CB965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F152C-FFF4-22F7-3DCC-39E484A0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ED2E-A8DD-4E6E-B178-F2C5E8A68044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B76D6-B56A-C77B-CACC-63C580BA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20467-578D-6235-3063-A531012B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05BB-ADFD-CD22-E3DC-C7BAFC5F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1E6CF-8FA2-4955-EB05-C41CC1AA4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9AE8E-1A6B-27EA-5C0B-8F936D27B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F44A7-EFBF-39D1-8504-ED96C9CB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B6533-F858-490B-92C1-BFE698CEB49F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BA161-3683-596D-83EE-40293A3C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50D79-AF55-5CD1-9406-350F1456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0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48A0-FC3E-94BD-C4BB-C18984D9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04FC1-8146-67E3-3917-C2B34E2E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0FB35-45BC-51AC-81E5-9BF8D515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32C37-B9F4-46B7-A01E-A5A2F5DF327E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D455-93D5-9B91-79D5-1C0B18C5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C4E4E-5826-0117-9FA7-CF41DF06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7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8B619-FB94-C6F3-AA30-92BA0FC56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44EE5-7BF3-80FC-31CC-2DB6C7F09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E888F-31F1-8FAF-3E7D-4B0FC774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07F8-70B6-4502-9615-8F2591C3C39B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7072-798C-77D6-7BCE-FB33B56C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F8832-C4A0-4752-8C19-3C47773A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50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79B6A-4F1C-B255-A9CE-B3477229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57BB1-D2BE-12CA-14C1-967433B0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E7BD2-C270-594E-3F93-7AD431A6D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83EBB-C15F-4D4D-BEC5-2A9CAFF72574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288-48DC-6B1C-C9E7-340FB213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09E60-0512-2820-072D-E5651EBCF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F135F-6F79-4AD7-9577-6682C6A74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59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9BD7B5D-C85B-40DD-9D5D-87828DD3AB3B}"/>
              </a:ext>
            </a:extLst>
          </p:cNvPr>
          <p:cNvGrpSpPr/>
          <p:nvPr/>
        </p:nvGrpSpPr>
        <p:grpSpPr>
          <a:xfrm>
            <a:off x="48357" y="200134"/>
            <a:ext cx="12095285" cy="1053870"/>
            <a:chOff x="96715" y="1430715"/>
            <a:chExt cx="11948748" cy="993531"/>
          </a:xfrm>
          <a:solidFill>
            <a:schemeClr val="tx1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1716D6E-18A3-4FE6-9FD0-82BEA69126BA}"/>
                </a:ext>
              </a:extLst>
            </p:cNvPr>
            <p:cNvSpPr/>
            <p:nvPr/>
          </p:nvSpPr>
          <p:spPr>
            <a:xfrm>
              <a:off x="96715" y="1430715"/>
              <a:ext cx="11948748" cy="993531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18B16C-2C05-493B-9C36-871996A13A3A}"/>
                </a:ext>
              </a:extLst>
            </p:cNvPr>
            <p:cNvSpPr txBox="1"/>
            <p:nvPr/>
          </p:nvSpPr>
          <p:spPr>
            <a:xfrm>
              <a:off x="215999" y="1685447"/>
              <a:ext cx="11614638" cy="50777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Solvent Dependent Charge Transfer and Acidity in </a:t>
              </a:r>
              <a:r>
                <a:rPr lang="en-US" sz="29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-Nitroaniline</a:t>
              </a:r>
              <a:endParaRPr lang="en-IN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ED8D5BA-F38B-4C93-BC61-189760CB250B}"/>
              </a:ext>
            </a:extLst>
          </p:cNvPr>
          <p:cNvSpPr txBox="1"/>
          <p:nvPr/>
        </p:nvSpPr>
        <p:spPr>
          <a:xfrm>
            <a:off x="2601057" y="2185987"/>
            <a:ext cx="698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Arif Ahmed Begg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BC6ADD-C435-4E5A-B959-585F21FAF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667" y="5039874"/>
            <a:ext cx="1176052" cy="13164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5F6A84-CAAE-415A-8ABD-46CC82162502}"/>
              </a:ext>
            </a:extLst>
          </p:cNvPr>
          <p:cNvSpPr txBox="1"/>
          <p:nvPr/>
        </p:nvSpPr>
        <p:spPr>
          <a:xfrm>
            <a:off x="2628250" y="3166533"/>
            <a:ext cx="698988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24CY40005</a:t>
            </a: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M.Sc. Chemistry, Sem-IV</a:t>
            </a: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Dept. of Chemistry, IIT Kharagpur, India</a:t>
            </a:r>
          </a:p>
          <a:p>
            <a:pPr algn="ctr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Instructor: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Prof. Sabyashachi Mishra</a:t>
            </a:r>
          </a:p>
          <a:p>
            <a:pPr algn="ctr"/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of Quantum Systems &amp; Processes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DB740-1B76-3F58-3C7E-C867CAF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6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8108D38-FCE4-84C5-56BA-646A70F8ECF2}"/>
              </a:ext>
            </a:extLst>
          </p:cNvPr>
          <p:cNvGrpSpPr/>
          <p:nvPr/>
        </p:nvGrpSpPr>
        <p:grpSpPr>
          <a:xfrm>
            <a:off x="0" y="122726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B354106-72A0-44F3-900D-77E74FFB159B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684F6DF-E7D0-49B7-9005-684E749E9D39}"/>
                </a:ext>
              </a:extLst>
            </p:cNvPr>
            <p:cNvSpPr txBox="1"/>
            <p:nvPr/>
          </p:nvSpPr>
          <p:spPr>
            <a:xfrm>
              <a:off x="105508" y="43921"/>
              <a:ext cx="6646984" cy="553998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C29EF0B-9BFB-4AF0-A904-C9C2671FBDD2}"/>
              </a:ext>
            </a:extLst>
          </p:cNvPr>
          <p:cNvSpPr txBox="1"/>
          <p:nvPr/>
        </p:nvSpPr>
        <p:spPr>
          <a:xfrm>
            <a:off x="105508" y="1068284"/>
            <a:ext cx="60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Charge Transfer Spectra:</a:t>
            </a:r>
            <a:endParaRPr lang="en-I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9A800D85-08FC-CC7A-F672-F6F6B1CDC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17" y="1008535"/>
            <a:ext cx="1142153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Involves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 movement from donor → acceptor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the molecule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charge separation in excited 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dependence on solvent polarity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(red shift in polar solvents)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2914FE-467E-82A6-231E-5C241F4F14AC}"/>
              </a:ext>
            </a:extLst>
          </p:cNvPr>
          <p:cNvSpPr txBox="1"/>
          <p:nvPr/>
        </p:nvSpPr>
        <p:spPr>
          <a:xfrm>
            <a:off x="573607" y="3166641"/>
            <a:ext cx="7343744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 transitions involve electron relocation across the molecule,</a:t>
            </a:r>
          </a:p>
          <a:p>
            <a:pPr>
              <a:lnSpc>
                <a:spcPct val="150000"/>
              </a:lnSpc>
            </a:pPr>
            <a:r>
              <a:rPr lang="en-US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unlike local excitations, which remain confined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1B5B602-183D-31C5-CFBD-F2F01957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1268339"/>
            <a:ext cx="3691468" cy="50388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6A35C4E-9970-1470-D4A9-022CD0D6482B}"/>
              </a:ext>
            </a:extLst>
          </p:cNvPr>
          <p:cNvSpPr txBox="1"/>
          <p:nvPr/>
        </p:nvSpPr>
        <p:spPr>
          <a:xfrm>
            <a:off x="281517" y="6340541"/>
            <a:ext cx="7949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Wasielewski et al., </a:t>
            </a:r>
            <a:r>
              <a:rPr lang="en-IN" sz="1400" i="1" dirty="0">
                <a:latin typeface="Arial" panose="020B0604020202020204" pitchFamily="34" charset="0"/>
                <a:cs typeface="Arial" panose="020B0604020202020204" pitchFamily="34" charset="0"/>
              </a:rPr>
              <a:t>J. Phys. Chem.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(1985) — Ultrafast CT in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pNA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9A19F8-0103-BD63-4DF8-2DAA4D7D3E90}"/>
              </a:ext>
            </a:extLst>
          </p:cNvPr>
          <p:cNvGrpSpPr/>
          <p:nvPr/>
        </p:nvGrpSpPr>
        <p:grpSpPr>
          <a:xfrm>
            <a:off x="2312054" y="4349620"/>
            <a:ext cx="3868938" cy="1369030"/>
            <a:chOff x="2312054" y="4470740"/>
            <a:chExt cx="3868938" cy="1369030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61D4F113-F075-C31E-2524-161B28D77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6797" y="4967736"/>
              <a:ext cx="3097365" cy="8720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Donor: Aniline group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dirty="0">
                  <a:latin typeface="Arial" panose="020B0604020202020204" pitchFamily="34" charset="0"/>
                </a:rPr>
                <a:t> Acceptor: Nitro group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8E1863-44A7-E621-428F-9EB7981C2004}"/>
                </a:ext>
              </a:extLst>
            </p:cNvPr>
            <p:cNvSpPr txBox="1"/>
            <p:nvPr/>
          </p:nvSpPr>
          <p:spPr>
            <a:xfrm>
              <a:off x="2312054" y="4470740"/>
              <a:ext cx="3868938" cy="49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System: p-Nitroaniline (</a:t>
              </a:r>
              <a:r>
                <a:rPr lang="en-US" sz="2000" b="1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pNA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I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6FD542C0-F081-BD05-B4CE-C4291526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7EA7-0D5B-79A1-0EA2-4EA761B9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AA25A65-A9CA-0A6C-1C87-C1C5F6ADBE5D}"/>
              </a:ext>
            </a:extLst>
          </p:cNvPr>
          <p:cNvGrpSpPr/>
          <p:nvPr/>
        </p:nvGrpSpPr>
        <p:grpSpPr>
          <a:xfrm>
            <a:off x="0" y="135466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C8FF5F2-487E-94F3-8C63-D3ED80FCD37F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AE9A21-CEBD-03A4-DD34-63E1FE1A898F}"/>
                </a:ext>
              </a:extLst>
            </p:cNvPr>
            <p:cNvSpPr txBox="1"/>
            <p:nvPr/>
          </p:nvSpPr>
          <p:spPr>
            <a:xfrm>
              <a:off x="105508" y="43921"/>
              <a:ext cx="6646984" cy="553998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Computational Methodology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18B146-6C16-1056-9E6A-5093A4E1FF5C}"/>
              </a:ext>
            </a:extLst>
          </p:cNvPr>
          <p:cNvGrpSpPr/>
          <p:nvPr/>
        </p:nvGrpSpPr>
        <p:grpSpPr>
          <a:xfrm>
            <a:off x="629548" y="1201499"/>
            <a:ext cx="5306118" cy="4876747"/>
            <a:chOff x="206212" y="1201499"/>
            <a:chExt cx="5306118" cy="487674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BFB95B-00DA-9737-859B-0DEC722226CD}"/>
                </a:ext>
              </a:extLst>
            </p:cNvPr>
            <p:cNvGrpSpPr/>
            <p:nvPr/>
          </p:nvGrpSpPr>
          <p:grpSpPr>
            <a:xfrm>
              <a:off x="206212" y="1201499"/>
              <a:ext cx="3348892" cy="854998"/>
              <a:chOff x="105508" y="1125275"/>
              <a:chExt cx="6293175" cy="85499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B2420-3769-0B52-5D1D-9CD69FB7269B}"/>
                  </a:ext>
                </a:extLst>
              </p:cNvPr>
              <p:cNvSpPr txBox="1"/>
              <p:nvPr/>
            </p:nvSpPr>
            <p:spPr>
              <a:xfrm>
                <a:off x="105508" y="1125275"/>
                <a:ext cx="60754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Geometry optimization:</a:t>
                </a:r>
                <a:endParaRPr lang="en-I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240CC1-3BD8-39A5-4B2B-52AA5D3585C2}"/>
                  </a:ext>
                </a:extLst>
              </p:cNvPr>
              <p:cNvSpPr txBox="1"/>
              <p:nvPr/>
            </p:nvSpPr>
            <p:spPr>
              <a:xfrm>
                <a:off x="281518" y="1610941"/>
                <a:ext cx="6117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B3LYP / 6-31G(d)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D63A9EE-1D75-0C09-8841-5682A24D8A62}"/>
                </a:ext>
              </a:extLst>
            </p:cNvPr>
            <p:cNvGrpSpPr/>
            <p:nvPr/>
          </p:nvGrpSpPr>
          <p:grpSpPr>
            <a:xfrm>
              <a:off x="299875" y="2775743"/>
              <a:ext cx="5212455" cy="3302503"/>
              <a:chOff x="130907" y="1794141"/>
              <a:chExt cx="6267776" cy="33025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0BF046-22C8-5534-BA19-DCFFE39ED2B1}"/>
                  </a:ext>
                </a:extLst>
              </p:cNvPr>
              <p:cNvSpPr txBox="1"/>
              <p:nvPr/>
            </p:nvSpPr>
            <p:spPr>
              <a:xfrm>
                <a:off x="281517" y="2234322"/>
                <a:ext cx="6117166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 singlets</a:t>
                </a: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Functionals: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B3LYP &amp; CAM-B3LYP</a:t>
                </a:r>
              </a:p>
              <a:p>
                <a:r>
                  <a:rPr lang="en-I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Functional comparison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Basis: 6-31G(d)</a:t>
                </a:r>
              </a:p>
              <a:p>
                <a:endParaRPr lang="en-IN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Solvent-dependent studies: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Benzene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Acetonitrile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Water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EEEE4B-1472-DCF1-7140-00EEBAAF0F20}"/>
                  </a:ext>
                </a:extLst>
              </p:cNvPr>
              <p:cNvSpPr txBox="1"/>
              <p:nvPr/>
            </p:nvSpPr>
            <p:spPr>
              <a:xfrm>
                <a:off x="130907" y="1794141"/>
                <a:ext cx="6075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TD-DFT calculations:</a:t>
                </a:r>
                <a:endParaRPr lang="en-I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79C6CC-943A-84D6-A9EC-AF9B311B33B8}"/>
              </a:ext>
            </a:extLst>
          </p:cNvPr>
          <p:cNvGrpSpPr/>
          <p:nvPr/>
        </p:nvGrpSpPr>
        <p:grpSpPr>
          <a:xfrm>
            <a:off x="6011864" y="1510603"/>
            <a:ext cx="5052540" cy="3769057"/>
            <a:chOff x="4313764" y="939034"/>
            <a:chExt cx="6267776" cy="37690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EB324B-39A4-0015-2B05-14FAD2ACED8E}"/>
                </a:ext>
              </a:extLst>
            </p:cNvPr>
            <p:cNvGrpSpPr/>
            <p:nvPr/>
          </p:nvGrpSpPr>
          <p:grpSpPr>
            <a:xfrm>
              <a:off x="4313764" y="939034"/>
              <a:ext cx="6267776" cy="3302503"/>
              <a:chOff x="130907" y="1794141"/>
              <a:chExt cx="6267776" cy="330250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9FAD53-3AB4-886E-8761-12C72F61CBFB}"/>
                  </a:ext>
                </a:extLst>
              </p:cNvPr>
              <p:cNvSpPr txBox="1"/>
              <p:nvPr/>
            </p:nvSpPr>
            <p:spPr>
              <a:xfrm>
                <a:off x="281517" y="2234322"/>
                <a:ext cx="6117166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Prepared protonated </a:t>
                </a:r>
                <a:r>
                  <a:rPr lang="en-IN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pNA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 singlets</a:t>
                </a: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Functionals: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CAM-B3LYP / 6-31G(d)</a:t>
                </a:r>
              </a:p>
              <a:p>
                <a:endParaRPr lang="en-IN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Solvent-dependent studies: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Benzene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Acetonitrile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Water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0A59CD-1B84-81BF-C57C-960396D6EA80}"/>
                  </a:ext>
                </a:extLst>
              </p:cNvPr>
              <p:cNvSpPr txBox="1"/>
              <p:nvPr/>
            </p:nvSpPr>
            <p:spPr>
              <a:xfrm>
                <a:off x="130907" y="1794141"/>
                <a:ext cx="6075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Acidity calculations:</a:t>
                </a:r>
                <a:endParaRPr lang="en-I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D845E9-A080-CA3B-8995-E1732E4E8373}"/>
                </a:ext>
              </a:extLst>
            </p:cNvPr>
            <p:cNvSpPr txBox="1"/>
            <p:nvPr/>
          </p:nvSpPr>
          <p:spPr>
            <a:xfrm>
              <a:off x="4464374" y="4338759"/>
              <a:ext cx="61171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latin typeface="Arial" panose="020B0604020202020204" pitchFamily="34" charset="0"/>
                  <a:cs typeface="Arial" panose="020B0604020202020204" pitchFamily="34" charset="0"/>
                </a:rPr>
                <a:t>PCM (Polarizable Continuum Model)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9F25F1B-23F5-5DCA-BF92-BF30B587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83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FB4A-E0A5-DF8D-5893-8EB8D638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C1C15CA-5207-A8EB-E1D8-4687A05E2295}"/>
              </a:ext>
            </a:extLst>
          </p:cNvPr>
          <p:cNvGrpSpPr/>
          <p:nvPr/>
        </p:nvGrpSpPr>
        <p:grpSpPr>
          <a:xfrm>
            <a:off x="0" y="118539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5031B83-F5F3-EFC3-19AA-DC68C76F36E2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9F4F64-54AE-8CE6-448B-8D58DA99B4CF}"/>
                </a:ext>
              </a:extLst>
            </p:cNvPr>
            <p:cNvSpPr txBox="1"/>
            <p:nvPr/>
          </p:nvSpPr>
          <p:spPr>
            <a:xfrm>
              <a:off x="105508" y="43921"/>
              <a:ext cx="664698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CT Band in </a:t>
              </a:r>
              <a:r>
                <a:rPr lang="en-US" sz="3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pNA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4F7E7D-36BB-FD5A-91D2-36B4A3123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792" y="824258"/>
            <a:ext cx="3449585" cy="5720951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39743F6B-6B3D-EE5E-76C4-ABBD9249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25" y="968189"/>
            <a:ext cx="49653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Donor → acceptor transition (36 → 37)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HOMO on NH₂, LUMO on NO₂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solvent dependence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D2F78-FBC6-A2EC-65E1-218370B29A3B}"/>
              </a:ext>
            </a:extLst>
          </p:cNvPr>
          <p:cNvSpPr txBox="1"/>
          <p:nvPr/>
        </p:nvSpPr>
        <p:spPr>
          <a:xfrm>
            <a:off x="1279868" y="2057011"/>
            <a:ext cx="6117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separation and pronounced solvent sensitivity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B14710E-2B4D-76D9-3BAB-9C671E8A6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629325"/>
              </p:ext>
            </p:extLst>
          </p:nvPr>
        </p:nvGraphicFramePr>
        <p:xfrm>
          <a:off x="485623" y="2736108"/>
          <a:ext cx="7058172" cy="3645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516">
                  <a:extLst>
                    <a:ext uri="{9D8B030D-6E8A-4147-A177-3AD203B41FA5}">
                      <a16:colId xmlns:a16="http://schemas.microsoft.com/office/drawing/2014/main" val="3969153334"/>
                    </a:ext>
                  </a:extLst>
                </a:gridCol>
                <a:gridCol w="2276702">
                  <a:extLst>
                    <a:ext uri="{9D8B030D-6E8A-4147-A177-3AD203B41FA5}">
                      <a16:colId xmlns:a16="http://schemas.microsoft.com/office/drawing/2014/main" val="2847083214"/>
                    </a:ext>
                  </a:extLst>
                </a:gridCol>
                <a:gridCol w="2757954">
                  <a:extLst>
                    <a:ext uri="{9D8B030D-6E8A-4147-A177-3AD203B41FA5}">
                      <a16:colId xmlns:a16="http://schemas.microsoft.com/office/drawing/2014/main" val="991702506"/>
                    </a:ext>
                  </a:extLst>
                </a:gridCol>
              </a:tblGrid>
              <a:tr h="40501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Wavelength (nm)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569375"/>
                  </a:ext>
                </a:extLst>
              </a:tr>
              <a:tr h="405012">
                <a:tc rowSpan="2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79947"/>
                  </a:ext>
                </a:extLst>
              </a:tr>
              <a:tr h="405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272.97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00587"/>
                  </a:ext>
                </a:extLst>
              </a:tr>
              <a:tr h="405012">
                <a:tc rowSpan="2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Benzene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322.66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391869"/>
                  </a:ext>
                </a:extLst>
              </a:tr>
              <a:tr h="405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289.92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64570"/>
                  </a:ext>
                </a:extLst>
              </a:tr>
              <a:tr h="405012">
                <a:tc rowSpan="2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Acetonitrile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61417"/>
                  </a:ext>
                </a:extLst>
              </a:tr>
              <a:tr h="405012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299.47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855002"/>
                  </a:ext>
                </a:extLst>
              </a:tr>
              <a:tr h="405012">
                <a:tc rowSpan="2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334.10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916100"/>
                  </a:ext>
                </a:extLst>
              </a:tr>
              <a:tr h="405012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299.84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19427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56D8060-F599-9268-47D5-EA06569DF788}"/>
              </a:ext>
            </a:extLst>
          </p:cNvPr>
          <p:cNvCxnSpPr/>
          <p:nvPr/>
        </p:nvCxnSpPr>
        <p:spPr>
          <a:xfrm>
            <a:off x="7823200" y="3009262"/>
            <a:ext cx="0" cy="3098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6C9D7E82-FD32-CC58-707D-1BC9EA38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8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9D89-6FFD-CBE7-8DFE-A459005C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C69AD88-256A-723E-F9B1-E470FBFB6438}"/>
              </a:ext>
            </a:extLst>
          </p:cNvPr>
          <p:cNvGrpSpPr/>
          <p:nvPr/>
        </p:nvGrpSpPr>
        <p:grpSpPr>
          <a:xfrm>
            <a:off x="0" y="110072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AAE9E52-4BBE-B1BE-086C-12279EDF885C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472A2F-C187-8702-CBE6-870FD1ACB182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Solvent and Functional Dependence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01F08E-970C-C19F-E4B9-19AC611DA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32575"/>
              </p:ext>
            </p:extLst>
          </p:nvPr>
        </p:nvGraphicFramePr>
        <p:xfrm>
          <a:off x="8839199" y="928207"/>
          <a:ext cx="3225801" cy="540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94">
                  <a:extLst>
                    <a:ext uri="{9D8B030D-6E8A-4147-A177-3AD203B41FA5}">
                      <a16:colId xmlns:a16="http://schemas.microsoft.com/office/drawing/2014/main" val="3969153334"/>
                    </a:ext>
                  </a:extLst>
                </a:gridCol>
                <a:gridCol w="961740">
                  <a:extLst>
                    <a:ext uri="{9D8B030D-6E8A-4147-A177-3AD203B41FA5}">
                      <a16:colId xmlns:a16="http://schemas.microsoft.com/office/drawing/2014/main" val="2847083214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991702506"/>
                    </a:ext>
                  </a:extLst>
                </a:gridCol>
              </a:tblGrid>
              <a:tr h="600657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Wavelength (nm)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569375"/>
                  </a:ext>
                </a:extLst>
              </a:tr>
              <a:tr h="600657"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79947"/>
                  </a:ext>
                </a:extLst>
              </a:tr>
              <a:tr h="60065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272.97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00587"/>
                  </a:ext>
                </a:extLst>
              </a:tr>
              <a:tr h="600657"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Benzene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322.66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391869"/>
                  </a:ext>
                </a:extLst>
              </a:tr>
              <a:tr h="60065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289.92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64570"/>
                  </a:ext>
                </a:extLst>
              </a:tr>
              <a:tr h="600657"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Acetonitrile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61417"/>
                  </a:ext>
                </a:extLst>
              </a:tr>
              <a:tr h="600657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299.47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855002"/>
                  </a:ext>
                </a:extLst>
              </a:tr>
              <a:tr h="600657"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334.10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916100"/>
                  </a:ext>
                </a:extLst>
              </a:tr>
              <a:tr h="600657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CAM-B3LYP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299.84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19427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E6B36EC-E2AD-A781-1309-5EA2D7125637}"/>
              </a:ext>
            </a:extLst>
          </p:cNvPr>
          <p:cNvGrpSpPr/>
          <p:nvPr/>
        </p:nvGrpSpPr>
        <p:grpSpPr>
          <a:xfrm>
            <a:off x="203601" y="812412"/>
            <a:ext cx="8410748" cy="5637502"/>
            <a:chOff x="189290" y="824258"/>
            <a:chExt cx="8410748" cy="56375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61407D2-535E-BBBF-7CC3-1960FBEC9DC5}"/>
                </a:ext>
              </a:extLst>
            </p:cNvPr>
            <p:cNvGrpSpPr/>
            <p:nvPr/>
          </p:nvGrpSpPr>
          <p:grpSpPr>
            <a:xfrm>
              <a:off x="189290" y="824258"/>
              <a:ext cx="8410748" cy="5637502"/>
              <a:chOff x="123436" y="50800"/>
              <a:chExt cx="9853860" cy="6108622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0C746DD-4D81-BB1E-0ABC-F8041673E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0799" y="3152098"/>
                <a:ext cx="4846497" cy="30073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117C42C-4A4B-9044-255D-EBD9A2A91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436" y="3143631"/>
                <a:ext cx="4846497" cy="3007324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E25266B-64AF-3BE3-E583-56BF18B71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0800" y="136307"/>
                <a:ext cx="4846496" cy="3007324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E4630DF-560B-448D-E739-B853646D2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437" y="50800"/>
                <a:ext cx="4846497" cy="3007324"/>
              </a:xfrm>
              <a:prstGeom prst="rect">
                <a:avLst/>
              </a:prstGeom>
            </p:spPr>
          </p:pic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11195C-CFBF-9CD0-F646-3ABD9A0099E5}"/>
                </a:ext>
              </a:extLst>
            </p:cNvPr>
            <p:cNvSpPr/>
            <p:nvPr/>
          </p:nvSpPr>
          <p:spPr>
            <a:xfrm>
              <a:off x="1430865" y="1049868"/>
              <a:ext cx="1566333" cy="129180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6972A1-6F62-CAC9-7470-49DB30B75102}"/>
                </a:ext>
              </a:extLst>
            </p:cNvPr>
            <p:cNvSpPr/>
            <p:nvPr/>
          </p:nvSpPr>
          <p:spPr>
            <a:xfrm>
              <a:off x="1634067" y="3894676"/>
              <a:ext cx="1566333" cy="129180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92F445A-E5C1-D280-45D3-9F7784A60385}"/>
                </a:ext>
              </a:extLst>
            </p:cNvPr>
            <p:cNvSpPr/>
            <p:nvPr/>
          </p:nvSpPr>
          <p:spPr>
            <a:xfrm>
              <a:off x="6214546" y="1109134"/>
              <a:ext cx="1566333" cy="129180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8766A4-F6AB-6067-1D1A-0F207A1B1611}"/>
                </a:ext>
              </a:extLst>
            </p:cNvPr>
            <p:cNvSpPr/>
            <p:nvPr/>
          </p:nvSpPr>
          <p:spPr>
            <a:xfrm>
              <a:off x="6256879" y="3894676"/>
              <a:ext cx="1566333" cy="129180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D210B54-8646-E5DE-B847-2EFF20613050}"/>
              </a:ext>
            </a:extLst>
          </p:cNvPr>
          <p:cNvSpPr txBox="1"/>
          <p:nvPr/>
        </p:nvSpPr>
        <p:spPr>
          <a:xfrm>
            <a:off x="865716" y="6442100"/>
            <a:ext cx="8176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Stabilization of the charge-separated excited state in polar solvents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06C76CE-6A0A-6741-BCFE-1A74980F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1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6CB9-35DF-EFA2-FF10-2D60D0BD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BF5662E-73C6-0C4F-F97E-3F025F118F20}"/>
              </a:ext>
            </a:extLst>
          </p:cNvPr>
          <p:cNvGrpSpPr/>
          <p:nvPr/>
        </p:nvGrpSpPr>
        <p:grpSpPr>
          <a:xfrm>
            <a:off x="0" y="110069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F9667EB-80D7-5A6A-8275-861FCE0BD660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F0D1F9D-46DB-1D2A-40C2-2E0EF78FE93F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NBO Charge Distribution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219BA7E-1997-3B33-1B24-2FA304B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C16808-AD10-35D6-1DC9-209D954A3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88383"/>
              </p:ext>
            </p:extLst>
          </p:nvPr>
        </p:nvGraphicFramePr>
        <p:xfrm>
          <a:off x="8661402" y="1232459"/>
          <a:ext cx="3361266" cy="5047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422">
                  <a:extLst>
                    <a:ext uri="{9D8B030D-6E8A-4147-A177-3AD203B41FA5}">
                      <a16:colId xmlns:a16="http://schemas.microsoft.com/office/drawing/2014/main" val="2337110137"/>
                    </a:ext>
                  </a:extLst>
                </a:gridCol>
                <a:gridCol w="1120422">
                  <a:extLst>
                    <a:ext uri="{9D8B030D-6E8A-4147-A177-3AD203B41FA5}">
                      <a16:colId xmlns:a16="http://schemas.microsoft.com/office/drawing/2014/main" val="3343180378"/>
                    </a:ext>
                  </a:extLst>
                </a:gridCol>
                <a:gridCol w="1120422">
                  <a:extLst>
                    <a:ext uri="{9D8B030D-6E8A-4147-A177-3AD203B41FA5}">
                      <a16:colId xmlns:a16="http://schemas.microsoft.com/office/drawing/2014/main" val="1342051071"/>
                    </a:ext>
                  </a:extLst>
                </a:gridCol>
              </a:tblGrid>
              <a:tr h="996677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Amino N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Nitro N 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70654"/>
                  </a:ext>
                </a:extLst>
              </a:tr>
              <a:tr h="996677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586151"/>
                  </a:ext>
                </a:extLst>
              </a:tr>
              <a:tr h="996677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Benzene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76377"/>
                  </a:ext>
                </a:extLst>
              </a:tr>
              <a:tr h="1060393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914933"/>
                  </a:ext>
                </a:extLst>
              </a:tr>
              <a:tr h="996677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786240"/>
                  </a:ext>
                </a:extLst>
              </a:tr>
            </a:tbl>
          </a:graphicData>
        </a:graphic>
      </p:graphicFrame>
      <p:sp>
        <p:nvSpPr>
          <p:cNvPr id="6" name="Subtitle 2">
            <a:extLst>
              <a:ext uri="{FF2B5EF4-FFF2-40B4-BE49-F238E27FC236}">
                <a16:creationId xmlns:a16="http://schemas.microsoft.com/office/drawing/2014/main" id="{47EAA8B3-FEEC-AC2F-2340-16A650205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7866" y="6318349"/>
            <a:ext cx="4318000" cy="42958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A=gas phase   B=Benzene   </a:t>
            </a: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C=ACN  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D=Water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F7E6B-CFE8-8A76-E987-ABB32C109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5" y="852948"/>
            <a:ext cx="4057906" cy="2725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203934-4DC0-997F-67CC-30C1A6B0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622" y="852948"/>
            <a:ext cx="4057906" cy="2666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32A521-67AC-AE0C-3306-BD8DD5FF7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622" y="3645173"/>
            <a:ext cx="4057907" cy="257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511B48-D366-2794-C34A-18E12798A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16" y="3613494"/>
            <a:ext cx="4057906" cy="2641634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4396BE89-DE9C-1410-6967-E944724154DC}"/>
              </a:ext>
            </a:extLst>
          </p:cNvPr>
          <p:cNvSpPr txBox="1">
            <a:spLocks/>
          </p:cNvSpPr>
          <p:nvPr/>
        </p:nvSpPr>
        <p:spPr>
          <a:xfrm>
            <a:off x="745743" y="1074299"/>
            <a:ext cx="4808390" cy="429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  				        B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81263D-C7EC-0D0D-C80C-A85A0CFA8CE3}"/>
              </a:ext>
            </a:extLst>
          </p:cNvPr>
          <p:cNvSpPr txBox="1">
            <a:spLocks/>
          </p:cNvSpPr>
          <p:nvPr/>
        </p:nvSpPr>
        <p:spPr>
          <a:xfrm>
            <a:off x="618742" y="3682036"/>
            <a:ext cx="4808390" cy="429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  				        D</a:t>
            </a:r>
          </a:p>
        </p:txBody>
      </p:sp>
    </p:spTree>
    <p:extLst>
      <p:ext uri="{BB962C8B-B14F-4D97-AF65-F5344CB8AC3E}">
        <p14:creationId xmlns:p14="http://schemas.microsoft.com/office/powerpoint/2010/main" val="387921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2B1D-16EE-4CC6-76DB-856A6A04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3088AC2-323B-B3F1-5146-96C87C386B71}"/>
              </a:ext>
            </a:extLst>
          </p:cNvPr>
          <p:cNvGrpSpPr/>
          <p:nvPr/>
        </p:nvGrpSpPr>
        <p:grpSpPr>
          <a:xfrm>
            <a:off x="0" y="110069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C177EE-D912-7946-9E61-B6C552D0E5CD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61FF36-9A90-7607-78C6-F5C0B7FD5B38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Solvent and Functional Dependence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8433826-509D-1292-7C9F-995D802239B1}"/>
              </a:ext>
            </a:extLst>
          </p:cNvPr>
          <p:cNvSpPr txBox="1"/>
          <p:nvPr/>
        </p:nvSpPr>
        <p:spPr>
          <a:xfrm>
            <a:off x="795866" y="903807"/>
            <a:ext cx="10481733" cy="520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 of functionals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B3LYP → lower excitation energy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CAM-B3LYP → blue shift (higher energy)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CAM-B3LYP is better for CT states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long-range correction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 of solvent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Polar solvent → stabilises CT state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Red shift in absorption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Trend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benzene → acetonitrile → water 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Confirms charge-transfer nature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D73EB1F-D849-4C9F-92AD-8CEFDB7A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0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49FCC-20B1-90A7-7443-03E508A3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24849DE-70AA-C1F9-CA90-C92C5585FA2A}"/>
              </a:ext>
            </a:extLst>
          </p:cNvPr>
          <p:cNvGrpSpPr/>
          <p:nvPr/>
        </p:nvGrpSpPr>
        <p:grpSpPr>
          <a:xfrm>
            <a:off x="0" y="118537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46029FB-08F7-CE27-65B6-E7DB1C8AC698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4B4AF1-7A89-DBA9-D772-3BE10F25897C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Excited State Acidity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C702E1-907F-BE2F-050C-90C30B56EA2D}"/>
              </a:ext>
            </a:extLst>
          </p:cNvPr>
          <p:cNvGrpSpPr/>
          <p:nvPr/>
        </p:nvGrpSpPr>
        <p:grpSpPr>
          <a:xfrm>
            <a:off x="336004" y="1066801"/>
            <a:ext cx="4870995" cy="4593166"/>
            <a:chOff x="268272" y="906422"/>
            <a:chExt cx="4338413" cy="375997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5DE818F-8750-E5E4-4825-B0F98AB0CDD8}"/>
                </a:ext>
              </a:extLst>
            </p:cNvPr>
            <p:cNvSpPr/>
            <p:nvPr/>
          </p:nvSpPr>
          <p:spPr>
            <a:xfrm>
              <a:off x="559377" y="4024554"/>
              <a:ext cx="4047308" cy="64183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2853E6-269E-141A-9219-85C8D4C11CAC}"/>
                </a:ext>
              </a:extLst>
            </p:cNvPr>
            <p:cNvGrpSpPr/>
            <p:nvPr/>
          </p:nvGrpSpPr>
          <p:grpSpPr>
            <a:xfrm>
              <a:off x="268272" y="906422"/>
              <a:ext cx="4338413" cy="3556843"/>
              <a:chOff x="268272" y="906422"/>
              <a:chExt cx="4338413" cy="355684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48B503E-1814-FCF9-3DB1-D0D382E4D231}"/>
                  </a:ext>
                </a:extLst>
              </p:cNvPr>
              <p:cNvGrpSpPr/>
              <p:nvPr/>
            </p:nvGrpSpPr>
            <p:grpSpPr>
              <a:xfrm>
                <a:off x="268272" y="906422"/>
                <a:ext cx="4238598" cy="517254"/>
                <a:chOff x="268272" y="906422"/>
                <a:chExt cx="4238598" cy="5172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202E7353-F1BF-0497-1718-78F5C522B6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8272" y="911851"/>
                      <a:ext cx="2057943" cy="51052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1" i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num>
                              <m:den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𝟑𝟎𝟑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𝑹𝑻</m:t>
                                </m:r>
                              </m:den>
                            </m:f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202E7353-F1BF-0497-1718-78F5C522B6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8272" y="911851"/>
                      <a:ext cx="2057943" cy="510523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55D436CA-9F4D-22D6-9374-96BC7BCCD6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5086" y="906422"/>
                      <a:ext cx="1991784" cy="5172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sSubSup>
                              <m:sSub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1" i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sSup>
                                  <m:sSup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p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𝟑𝟎𝟑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𝑹𝑻</m:t>
                                </m:r>
                              </m:den>
                            </m:f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55D436CA-9F4D-22D6-9374-96BC7BCCD6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15086" y="906422"/>
                      <a:ext cx="1991784" cy="51725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C40849E3-6E93-7EDD-A74B-C5F54FA931E3}"/>
                      </a:ext>
                    </a:extLst>
                  </p:cNvPr>
                  <p:cNvSpPr txBox="1"/>
                  <p:nvPr/>
                </p:nvSpPr>
                <p:spPr>
                  <a:xfrm>
                    <a:off x="1110634" y="1771253"/>
                    <a:ext cx="235234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C40849E3-6E93-7EDD-A74B-C5F54FA93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0634" y="1771253"/>
                    <a:ext cx="235234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B70FE5-63FA-C0C7-5737-2E15E6BD8BEB}"/>
                      </a:ext>
                    </a:extLst>
                  </p:cNvPr>
                  <p:cNvSpPr txBox="1"/>
                  <p:nvPr/>
                </p:nvSpPr>
                <p:spPr>
                  <a:xfrm>
                    <a:off x="1158638" y="2465351"/>
                    <a:ext cx="2352340" cy="6127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2.303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B70FE5-63FA-C0C7-5737-2E15E6BD8B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8638" y="2465351"/>
                    <a:ext cx="2352340" cy="6127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25D897-E81A-00A4-B123-722785A75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4394" y="3236882"/>
                    <a:ext cx="4047308" cy="6127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2.303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25D897-E81A-00A4-B123-722785A754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394" y="3236882"/>
                    <a:ext cx="4047308" cy="6127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29BFCFE9-361E-B574-2D11-855CC8FB0F51}"/>
                      </a:ext>
                    </a:extLst>
                  </p:cNvPr>
                  <p:cNvSpPr txBox="1"/>
                  <p:nvPr/>
                </p:nvSpPr>
                <p:spPr>
                  <a:xfrm>
                    <a:off x="424394" y="4155541"/>
                    <a:ext cx="4182291" cy="3077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sSubSup>
                            <m:sSub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≈−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𝟗𝟏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IN" b="1" i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 </m:t>
                          </m:r>
                          <m:d>
                            <m:d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eV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 298 </m:t>
                              </m:r>
                              <m:r>
                                <m:rPr>
                                  <m:nor/>
                                </m:rPr>
                                <a:rPr lang="en-IN" b="1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29BFCFE9-361E-B574-2D11-855CC8FB0F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394" y="4155541"/>
                    <a:ext cx="4182291" cy="3077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94A61-0BD4-233D-4455-9E7F70D423A2}"/>
                  </a:ext>
                </a:extLst>
              </p:cNvPr>
              <p:cNvSpPr txBox="1"/>
              <p:nvPr/>
            </p:nvSpPr>
            <p:spPr>
              <a:xfrm>
                <a:off x="5661170" y="855129"/>
                <a:ext cx="6429229" cy="5666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 — Geometry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Optimized </a:t>
                </a:r>
                <a:r>
                  <a:rPr lang="en-IN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pNA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(neutral)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IN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pNAH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⁺ (protonated)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Level: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B3LYP / 6-31G(d)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None/>
                </a:pPr>
                <a:b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 — Excited States (TD-DFT)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TD-DFT: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CAM-B3LYP/6-31G(d)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Solvents: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benzene, acetonitrile, water (PCM)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None/>
                </a:pPr>
                <a:b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 — Extract Energies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neutral TD-DFT log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→ taken </a:t>
                </a:r>
                <a:r>
                  <a:rPr lang="en-IN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IN" b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base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protonated TD-DFT log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→ taken </a:t>
                </a:r>
                <a:r>
                  <a:rPr lang="en-IN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IN" b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acid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CT-related states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Neutral →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bright CT state (S₂)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Protonated →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corresponding state (S₃)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 — Compute Energy Difference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l-GR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b="1" i="0">
                              <a:latin typeface="Cambria Math" panose="02040503050406030204" pitchFamily="18" charset="0"/>
                            </a:rPr>
                            <m:t>𝐚𝐜𝐢𝐝</m:t>
                          </m:r>
                        </m:sub>
                      </m:sSub>
                      <m:r>
                        <a:rPr lang="ar-AE" b="1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</m:oMath>
                  </m:oMathPara>
                </a14:m>
                <a:endParaRPr lang="ar-AE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94A61-0BD4-233D-4455-9E7F70D42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1170" y="855129"/>
                <a:ext cx="6429229" cy="5666667"/>
              </a:xfrm>
              <a:prstGeom prst="rect">
                <a:avLst/>
              </a:prstGeom>
              <a:blipFill>
                <a:blip r:embed="rId8"/>
                <a:stretch>
                  <a:fillRect l="-854" t="-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00EF532-E581-60BD-0785-0EF551F842A5}"/>
              </a:ext>
            </a:extLst>
          </p:cNvPr>
          <p:cNvSpPr txBox="1"/>
          <p:nvPr/>
        </p:nvSpPr>
        <p:spPr>
          <a:xfrm>
            <a:off x="660573" y="5955289"/>
            <a:ext cx="4790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 transitions are well described at 0 K (QM calc); thermal effects are secondary</a:t>
            </a:r>
            <a:endParaRPr lang="en-IN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5C56D0E-AF82-D7AB-2F74-48EEC7E9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FF4E-8836-8873-61F0-0627767D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18F352-18DD-4422-71A4-D9389177C4AB}"/>
              </a:ext>
            </a:extLst>
          </p:cNvPr>
          <p:cNvSpPr/>
          <p:nvPr/>
        </p:nvSpPr>
        <p:spPr>
          <a:xfrm>
            <a:off x="2379133" y="4470400"/>
            <a:ext cx="3031067" cy="6350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A792F0-8F80-4199-B03C-89B27315C538}"/>
              </a:ext>
            </a:extLst>
          </p:cNvPr>
          <p:cNvGrpSpPr/>
          <p:nvPr/>
        </p:nvGrpSpPr>
        <p:grpSpPr>
          <a:xfrm>
            <a:off x="0" y="118536"/>
            <a:ext cx="12192000" cy="641838"/>
            <a:chOff x="0" y="1"/>
            <a:chExt cx="12192000" cy="641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67C645A-C169-0B25-210D-92956DC4FA48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solidFill>
              <a:srgbClr val="0033CC"/>
            </a:solidFill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75ED1C1-4730-74C2-75E7-2C549DA22981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Results: Excited State Acidity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6FCC9E-C8CC-821E-86D5-2BDBB9831AA5}"/>
                  </a:ext>
                </a:extLst>
              </p:cNvPr>
              <p:cNvSpPr txBox="1"/>
              <p:nvPr/>
            </p:nvSpPr>
            <p:spPr>
              <a:xfrm>
                <a:off x="2493107" y="4615779"/>
                <a:ext cx="27803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𝒑</m:t>
                      </m:r>
                      <m:sSubSup>
                        <m:sSubSup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b="1" i="1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𝟗𝟏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b="1" i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6FCC9E-C8CC-821E-86D5-2BDBB9831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107" y="4615779"/>
                <a:ext cx="278034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3DA1D69-2A75-6947-AA08-167BEE6AC9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224625"/>
                  </p:ext>
                </p:extLst>
              </p:nvPr>
            </p:nvGraphicFramePr>
            <p:xfrm>
              <a:off x="317177" y="1132749"/>
              <a:ext cx="7082694" cy="3138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4561">
                      <a:extLst>
                        <a:ext uri="{9D8B030D-6E8A-4147-A177-3AD203B41FA5}">
                          <a16:colId xmlns:a16="http://schemas.microsoft.com/office/drawing/2014/main" val="1000203527"/>
                        </a:ext>
                      </a:extLst>
                    </a:gridCol>
                    <a:gridCol w="1086337">
                      <a:extLst>
                        <a:ext uri="{9D8B030D-6E8A-4147-A177-3AD203B41FA5}">
                          <a16:colId xmlns:a16="http://schemas.microsoft.com/office/drawing/2014/main" val="1135988748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2567903089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745385865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1152562707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761422827"/>
                        </a:ext>
                      </a:extLst>
                    </a:gridCol>
                  </a:tblGrid>
                  <a:tr h="1002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Solvent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</a:t>
                          </a:r>
                          <a:r>
                            <a:rPr lang="en-IN" sz="1700" b="1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base</a:t>
                          </a:r>
                          <a:r>
                            <a:rPr lang="en-IN" sz="17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IN" sz="1700" b="1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(in eV)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</a:t>
                          </a:r>
                          <a:r>
                            <a:rPr lang="en-IN" sz="1700" b="1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acid</a:t>
                          </a:r>
                          <a:r>
                            <a:rPr lang="en-IN" sz="17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IN" sz="1700" b="1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(in eV)</a:t>
                          </a:r>
                          <a:endParaRPr lang="en-IN" sz="1700" b="1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IN" sz="1700" b="1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oMath>
                          </a14:m>
                          <a:r>
                            <a:rPr lang="en-IN" sz="1700" b="1" i="0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 </a:t>
                          </a:r>
                        </a:p>
                        <a:p>
                          <a:pPr algn="ctr"/>
                          <a:r>
                            <a:rPr lang="en-IN" sz="1700" b="1" i="0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(in eV)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700" b="1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IN" sz="1700" b="1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𝐩𝐊𝐚</m:t>
                                </m:r>
                              </m:oMath>
                            </m:oMathPara>
                          </a14:m>
                          <a:endParaRPr lang="en-IN" sz="1700" b="1" i="0" baseline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700" b="1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𝐩𝐊</m:t>
                                </m:r>
                                <m:r>
                                  <a:rPr lang="en-IN" sz="1700" b="1" i="0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𝐚</m:t>
                                </m:r>
                                <m:r>
                                  <a:rPr lang="en-IN" sz="1700" b="1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oMath>
                            </m:oMathPara>
                          </a14:m>
                          <a:endParaRPr lang="en-IN" sz="1700" b="1" i="0" baseline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700" b="1" i="0" baseline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857321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Benzene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4.2766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5.1595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0.8829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-14.93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-13.93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840436"/>
                      </a:ext>
                    </a:extLst>
                  </a:tr>
                  <a:tr h="1002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Acetonitrile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4.1401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4.9698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0.8297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-14.03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1478883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Water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4.1350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4.9595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0.8245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826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3DA1D69-2A75-6947-AA08-167BEE6AC9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224625"/>
                  </p:ext>
                </p:extLst>
              </p:nvPr>
            </p:nvGraphicFramePr>
            <p:xfrm>
              <a:off x="317177" y="1132749"/>
              <a:ext cx="7082694" cy="3138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4561">
                      <a:extLst>
                        <a:ext uri="{9D8B030D-6E8A-4147-A177-3AD203B41FA5}">
                          <a16:colId xmlns:a16="http://schemas.microsoft.com/office/drawing/2014/main" val="1000203527"/>
                        </a:ext>
                      </a:extLst>
                    </a:gridCol>
                    <a:gridCol w="1086337">
                      <a:extLst>
                        <a:ext uri="{9D8B030D-6E8A-4147-A177-3AD203B41FA5}">
                          <a16:colId xmlns:a16="http://schemas.microsoft.com/office/drawing/2014/main" val="1135988748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2567903089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745385865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1152562707"/>
                        </a:ext>
                      </a:extLst>
                    </a:gridCol>
                    <a:gridCol w="1180449">
                      <a:extLst>
                        <a:ext uri="{9D8B030D-6E8A-4147-A177-3AD203B41FA5}">
                          <a16:colId xmlns:a16="http://schemas.microsoft.com/office/drawing/2014/main" val="761422827"/>
                        </a:ext>
                      </a:extLst>
                    </a:gridCol>
                  </a:tblGrid>
                  <a:tr h="1002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Solvent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</a:t>
                          </a:r>
                          <a:r>
                            <a:rPr lang="en-IN" sz="1700" b="1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base</a:t>
                          </a:r>
                          <a:r>
                            <a:rPr lang="en-IN" sz="17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IN" sz="1700" b="1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(in eV)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700" b="1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</a:t>
                          </a:r>
                          <a:r>
                            <a:rPr lang="en-IN" sz="1700" b="1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acid</a:t>
                          </a:r>
                          <a:r>
                            <a:rPr lang="en-IN" sz="17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IN" sz="1700" b="1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(in eV)</a:t>
                          </a:r>
                          <a:endParaRPr lang="en-IN" sz="1700" b="1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15" t="-1818" r="-202062" b="-21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591" t="-1818" r="-103109" b="-21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818" r="-2577" b="-213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857321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Benzene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4.2766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5.1595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0.8829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-14.93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-13.93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7840436"/>
                      </a:ext>
                    </a:extLst>
                  </a:tr>
                  <a:tr h="1002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Acetonitrile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4.1401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4.9698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0.8297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-14.03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1478883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Water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4.1350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4.9595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0.8245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-13.94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826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E0B2D2AF-368E-795F-3B19-FA9C61C46B5E}"/>
              </a:ext>
            </a:extLst>
          </p:cNvPr>
          <p:cNvGrpSpPr/>
          <p:nvPr/>
        </p:nvGrpSpPr>
        <p:grpSpPr>
          <a:xfrm>
            <a:off x="7729776" y="979931"/>
            <a:ext cx="4280517" cy="4015403"/>
            <a:chOff x="7729776" y="979931"/>
            <a:chExt cx="4280517" cy="4015403"/>
          </a:xfrm>
        </p:grpSpPr>
        <p:graphicFrame>
          <p:nvGraphicFramePr>
            <p:cNvPr id="26" name="Diagram 25">
              <a:extLst>
                <a:ext uri="{FF2B5EF4-FFF2-40B4-BE49-F238E27FC236}">
                  <a16:creationId xmlns:a16="http://schemas.microsoft.com/office/drawing/2014/main" id="{60992A5E-4F77-A6A9-10AE-E013996173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39865290"/>
                </p:ext>
              </p:extLst>
            </p:nvPr>
          </p:nvGraphicFramePr>
          <p:xfrm>
            <a:off x="7729776" y="979931"/>
            <a:ext cx="4280517" cy="401540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33C0A2FF-8761-B517-36F7-7FD9AA91EA43}"/>
                </a:ext>
              </a:extLst>
            </p:cNvPr>
            <p:cNvSpPr/>
            <p:nvPr/>
          </p:nvSpPr>
          <p:spPr>
            <a:xfrm>
              <a:off x="9654134" y="1804416"/>
              <a:ext cx="431800" cy="8974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1ED3ABFF-EAB3-D6D3-8003-0D70B32164AC}"/>
                </a:ext>
              </a:extLst>
            </p:cNvPr>
            <p:cNvSpPr/>
            <p:nvPr/>
          </p:nvSpPr>
          <p:spPr>
            <a:xfrm>
              <a:off x="9654134" y="3373550"/>
              <a:ext cx="431800" cy="8974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407EE6-6E1D-227A-41F7-7B67D1E8A910}"/>
              </a:ext>
            </a:extLst>
          </p:cNvPr>
          <p:cNvSpPr txBox="1"/>
          <p:nvPr/>
        </p:nvSpPr>
        <p:spPr>
          <a:xfrm>
            <a:off x="383117" y="5329873"/>
            <a:ext cx="68812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Polar solvents stabilize the CT state of the neutral molecule more than the protonated form, increasing ΔE and enhancing excited-state acidity.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743471D-7C7A-1ED1-25DC-E40DE0BB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522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FB746-6313-ACA7-1559-86DAAD6B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69D38A5-29DC-10B0-AFF9-AB4EC53C9486}"/>
              </a:ext>
            </a:extLst>
          </p:cNvPr>
          <p:cNvGrpSpPr/>
          <p:nvPr/>
        </p:nvGrpSpPr>
        <p:grpSpPr>
          <a:xfrm>
            <a:off x="0" y="118536"/>
            <a:ext cx="12192000" cy="641838"/>
            <a:chOff x="0" y="1"/>
            <a:chExt cx="12192000" cy="641838"/>
          </a:xfrm>
          <a:solidFill>
            <a:schemeClr val="accent2">
              <a:lumMod val="5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3416FBF-07E6-BA5A-7228-8C843BAD1FEE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D069EB2-280E-FD5F-D333-8D913052E2AF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684F844-4480-6CCD-DF3B-A6BFAE06E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199" y="984478"/>
                <a:ext cx="11023602" cy="46519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Charge transfer band defined by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36 → 37 transition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0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-Nitroaniline acts as a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donor–acceptor system (NH₂ → NO₂)</a:t>
                </a:r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CT band is </a:t>
                </a:r>
                <a:r>
                  <a:rPr lang="en-US" alt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functional dependent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B3LYP → lower energy 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CAM-B3LYP → blue shift </a:t>
                </a:r>
              </a:p>
              <a:p>
                <a:pPr marL="285750" lvl="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CT band is </a:t>
                </a:r>
                <a:r>
                  <a:rPr lang="en-US" alt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solvent dependent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Red shift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gas → benzene → ACN → water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Excited State Acidity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𝑝</m:t>
                    </m:r>
                    <m:sSubSup>
                      <m:sSub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 sz="20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I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acidity in the excited state</a:t>
                </a: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shift → </a:t>
                </a:r>
                <a:r>
                  <a:rPr lang="en-I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strong electronic effect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684F844-4480-6CCD-DF3B-A6BFAE06E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199" y="984478"/>
                <a:ext cx="11023602" cy="4651979"/>
              </a:xfrm>
              <a:prstGeom prst="rect">
                <a:avLst/>
              </a:prstGeom>
              <a:blipFill>
                <a:blip r:embed="rId2"/>
                <a:stretch>
                  <a:fillRect l="-498" b="-18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FAA3A-1972-2EB5-3300-5B34D9A6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40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7273-892E-62E0-542C-ED50E0AA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1128F34-38EA-9A3F-3BC9-CE58B04A9634}"/>
              </a:ext>
            </a:extLst>
          </p:cNvPr>
          <p:cNvGrpSpPr/>
          <p:nvPr/>
        </p:nvGrpSpPr>
        <p:grpSpPr>
          <a:xfrm>
            <a:off x="0" y="101032"/>
            <a:ext cx="12192000" cy="641838"/>
            <a:chOff x="0" y="1"/>
            <a:chExt cx="12192000" cy="641838"/>
          </a:xfrm>
          <a:solidFill>
            <a:srgbClr val="C00000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D0ABB6-61B6-F972-D1D6-9BCE18D2B9DD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F2C9BC-3DCB-80EE-D5D5-C9027AAB2F91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Limitations &amp; Pending Work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1F693365-0398-4E0B-C243-672AB32B5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1" y="1105374"/>
            <a:ext cx="5689600" cy="4288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Solvent Model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PCM used →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continuum approximation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explicit solvent interactions (H-bonding, dynamics)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Excited-State Acidity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Förster relation (approximate)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Based on the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vertical excitation energies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approximation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297D9-47AF-6699-E5C0-D7195441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11</a:t>
            </a:fld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803920-3A77-345B-9D4F-B613DAC45A2A}"/>
              </a:ext>
            </a:extLst>
          </p:cNvPr>
          <p:cNvGrpSpPr/>
          <p:nvPr/>
        </p:nvGrpSpPr>
        <p:grpSpPr>
          <a:xfrm>
            <a:off x="6443134" y="1105374"/>
            <a:ext cx="4910666" cy="4512733"/>
            <a:chOff x="7069667" y="1354667"/>
            <a:chExt cx="4910666" cy="451273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F0F836-EE09-F8E3-6D4E-4656AEBC4F68}"/>
                </a:ext>
              </a:extLst>
            </p:cNvPr>
            <p:cNvSpPr/>
            <p:nvPr/>
          </p:nvSpPr>
          <p:spPr>
            <a:xfrm>
              <a:off x="7069667" y="1354667"/>
              <a:ext cx="4910666" cy="45127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C36D2C4-4687-678D-88AD-068E9EE5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5867" y="1546658"/>
              <a:ext cx="4563533" cy="3985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1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Perform </a:t>
              </a:r>
              <a:r>
                <a:rPr lang="en-IN" sz="19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Multiwfn</a:t>
              </a:r>
              <a:r>
                <a:rPr lang="en-IN" sz="1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analysis (hole-electron, NTO) to quantify CT character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romanLcPeriod"/>
              </a:pPr>
              <a:endParaRPr lang="en-IN" sz="19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14350" indent="-5143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1900" b="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Calculate charge-transfer metrics (CT distance, IFCT charge)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romanLcPeriod"/>
              </a:pPr>
              <a:endParaRPr lang="en-IN" sz="19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14350" indent="-514350">
                <a:lnSpc>
                  <a:spcPct val="150000"/>
                </a:lnSpc>
                <a:buFont typeface="+mj-lt"/>
                <a:buAutoNum type="romanLcPeriod"/>
              </a:pPr>
              <a:r>
                <a:rPr lang="en-IN" sz="19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difference density plots for visual confirmation of CT</a:t>
              </a:r>
              <a:endParaRPr lang="en-IN" sz="19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288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D914-2DD8-8DCB-9D1F-52F99B27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F966C96-C190-25B3-9550-BF152EA7FEF6}"/>
              </a:ext>
            </a:extLst>
          </p:cNvPr>
          <p:cNvGrpSpPr/>
          <p:nvPr/>
        </p:nvGrpSpPr>
        <p:grpSpPr>
          <a:xfrm>
            <a:off x="0" y="118536"/>
            <a:ext cx="12192000" cy="641838"/>
            <a:chOff x="0" y="1"/>
            <a:chExt cx="12192000" cy="641838"/>
          </a:xfrm>
          <a:solidFill>
            <a:srgbClr val="002060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156025-9D4B-D3C6-FA0F-371550E56EFB}"/>
                </a:ext>
              </a:extLst>
            </p:cNvPr>
            <p:cNvSpPr/>
            <p:nvPr/>
          </p:nvSpPr>
          <p:spPr>
            <a:xfrm>
              <a:off x="0" y="1"/>
              <a:ext cx="12192000" cy="64183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073E09-F337-272E-2E34-2AF20EC6D532}"/>
                </a:ext>
              </a:extLst>
            </p:cNvPr>
            <p:cNvSpPr txBox="1"/>
            <p:nvPr/>
          </p:nvSpPr>
          <p:spPr>
            <a:xfrm>
              <a:off x="105507" y="43921"/>
              <a:ext cx="9123159" cy="553998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IN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DCD4056-B3DC-48A4-707A-7C62E3677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33" y="1167166"/>
            <a:ext cx="8009467" cy="3372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Course Instructor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Prof. Sabyashachi Mishra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TA: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Ms. Rituparna Sinha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Friends and family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Takshashila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CIC lab technicians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Paramshakti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supercomputing facility, IIT Kharagpur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40426-E301-65C3-4161-A1830123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135F-6F79-4AD7-9577-6682C6A74D11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0A1D4-3BE1-A809-C235-C1E05B75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067" y="4946741"/>
            <a:ext cx="1176052" cy="13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0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879</Words>
  <Application>Microsoft Office PowerPoint</Application>
  <PresentationFormat>Widescreen</PresentationFormat>
  <Paragraphs>237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Arif Ahmed Begg</dc:creator>
  <cp:lastModifiedBy>Arif Ahmed Begg</cp:lastModifiedBy>
  <cp:revision>30</cp:revision>
  <dcterms:created xsi:type="dcterms:W3CDTF">2026-04-12T18:22:27Z</dcterms:created>
  <dcterms:modified xsi:type="dcterms:W3CDTF">2026-04-16T19:25:41Z</dcterms:modified>
</cp:coreProperties>
</file>